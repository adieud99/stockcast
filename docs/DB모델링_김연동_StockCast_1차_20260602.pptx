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36576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5486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ctr"/>
            <a:r>
              <a:rPr sz="2000" b="1">
                <a:solidFill>
                  <a:srgbClr val="CADCFC"/>
                </a:solidFill>
                <a:latin typeface="맑은 고딕"/>
              </a:rPr>
              <a:t>DB 모델링 산출물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332720" cy="9144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맑은 고딕"/>
              </a:rPr>
              <a:t>StockCast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10332720" cy="5486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ctr"/>
            <a:r>
              <a:rPr sz="1800" b="0">
                <a:solidFill>
                  <a:srgbClr val="CADCFC"/>
                </a:solidFill>
                <a:latin typeface="맑은 고딕"/>
              </a:rPr>
              <a:t>NFC 재고관리·수요예측 시스템  |  SAP MM 모듈 구조 차용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332720" cy="12801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맑은 고딕"/>
              </a:rPr>
              <a:t>작성자  김연동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맑은 고딕"/>
              </a:rPr>
              <a:t>DBMS  PostgreSQL 16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맑은 고딕"/>
              </a:rPr>
              <a:t>작성일  2026-06-02      버전  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0" cy="11887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" cy="7315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4000" b="1">
                <a:solidFill>
                  <a:srgbClr val="CADCFC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411480"/>
            <a:ext cx="10058400" cy="7315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설계 원칙 — 왜 SAP MM 구조인가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566160" cy="64008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3566160" cy="64008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이동이 진실의 원천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68880"/>
            <a:ext cx="3566160" cy="265176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3200400" cy="23774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재고 수량을 직접 수정하지 않는다.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모든 입출고를 '자재문서(MKPF/MSEG)'로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기록하고, 재고는 그 결과로 집계된다.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→ 실무 SAP와 동일한 구조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0" y="1828800"/>
            <a:ext cx="3566160" cy="64008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828800"/>
            <a:ext cx="3566160" cy="64008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완전한 감사 추적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80" y="2468880"/>
            <a:ext cx="3566160" cy="265176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651760"/>
            <a:ext cx="3200400" cy="23774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언제·무엇이·왜(이동유형) 움직였는지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전부 남는다. 재고가 틀려도 역추적 가능.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→ 기업 현장에서 요구되는 신뢰성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1828800"/>
            <a:ext cx="3566160" cy="64008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828800"/>
            <a:ext cx="3566160" cy="64008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수요예측의 재료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2468880"/>
            <a:ext cx="3566160" cy="265176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651760"/>
            <a:ext cx="3200400" cy="23774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출고 이력(이동유형 201)이 곧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수요 시계열이 된다.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→ 다중회귀 예측의 입력 데이터로 직결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94960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맑은 고딕"/>
              </a:rPr>
              <a:t>단일 기업용 설계 — 멀티테넌트(tenant_id) 개념을 의도적으로 배제. 조직 구조는 플랜트/저장위치 2단계로 충분.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" cy="7315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4000" b="1">
                <a:solidFill>
                  <a:srgbClr val="CADCFC"/>
                </a:solidFill>
                <a:latin typeface="맑은 고딕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11480"/>
            <a:ext cx="10058400" cy="7315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ERD — 엔터티 관계도 (12개 테이블)</a:t>
            </a:r>
          </a:p>
        </p:txBody>
      </p:sp>
      <p:pic>
        <p:nvPicPr>
          <p:cNvPr id="5" name="Picture 4" descr="StockCast_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4559" y="1554480"/>
            <a:ext cx="5262576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" cy="7315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4000" b="1">
                <a:solidFill>
                  <a:srgbClr val="CADCFC"/>
                </a:solidFill>
                <a:latin typeface="맑은 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11480"/>
            <a:ext cx="10058400" cy="7315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테이블 목록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600200"/>
            <a:ext cx="1463040" cy="384048"/>
          </a:xfrm>
          <a:prstGeom prst="rect">
            <a:avLst/>
          </a:prstGeom>
          <a:solidFill>
            <a:srgbClr val="1E2761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0020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구분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600200"/>
            <a:ext cx="3291840" cy="384048"/>
          </a:xfrm>
          <a:prstGeom prst="rect">
            <a:avLst/>
          </a:prstGeom>
          <a:solidFill>
            <a:srgbClr val="1E2761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600200"/>
            <a:ext cx="329184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테이블명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1600200"/>
            <a:ext cx="3108960" cy="384048"/>
          </a:xfrm>
          <a:prstGeom prst="rect">
            <a:avLst/>
          </a:prstGeom>
          <a:solidFill>
            <a:srgbClr val="1E2761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1600200"/>
            <a:ext cx="310896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한글명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1600200"/>
            <a:ext cx="2011680" cy="384048"/>
          </a:xfrm>
          <a:prstGeom prst="rect">
            <a:avLst/>
          </a:prstGeom>
          <a:solidFill>
            <a:srgbClr val="1E2761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600200"/>
            <a:ext cx="201168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SAP 원본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1984248"/>
            <a:ext cx="14630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1984248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조직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0" y="1984248"/>
            <a:ext cx="32918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984248"/>
            <a:ext cx="329184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plant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1984248"/>
            <a:ext cx="31089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0" y="1984248"/>
            <a:ext cx="310896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플랜트(사업장)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984248"/>
            <a:ext cx="2011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1984248"/>
            <a:ext cx="201168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T001W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2368296"/>
            <a:ext cx="1463040" cy="384048"/>
          </a:xfrm>
          <a:prstGeom prst="rect">
            <a:avLst/>
          </a:prstGeom>
          <a:solidFill>
            <a:srgbClr val="CADCFC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2368296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조직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0" y="2368296"/>
            <a:ext cx="3291840" cy="384048"/>
          </a:xfrm>
          <a:prstGeom prst="rect">
            <a:avLst/>
          </a:prstGeom>
          <a:solidFill>
            <a:srgbClr val="CADCFC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0320" y="2368296"/>
            <a:ext cx="329184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storage_location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0" y="2368296"/>
            <a:ext cx="3108960" cy="384048"/>
          </a:xfrm>
          <a:prstGeom prst="rect">
            <a:avLst/>
          </a:prstGeom>
          <a:solidFill>
            <a:srgbClr val="CADCFC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0" y="2368296"/>
            <a:ext cx="310896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저장위치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20" y="2368296"/>
            <a:ext cx="2011680" cy="384048"/>
          </a:xfrm>
          <a:prstGeom prst="rect">
            <a:avLst/>
          </a:prstGeom>
          <a:solidFill>
            <a:srgbClr val="CADCFC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0" y="2368296"/>
            <a:ext cx="201168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T001L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" y="2752344"/>
            <a:ext cx="14630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2752344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마스터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0" y="2752344"/>
            <a:ext cx="32918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0" y="2752344"/>
            <a:ext cx="329184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material_group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2752344"/>
            <a:ext cx="31089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60" y="2752344"/>
            <a:ext cx="310896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자재그룹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61120" y="2752344"/>
            <a:ext cx="2011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0" y="2752344"/>
            <a:ext cx="201168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T023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97280" y="3136392"/>
            <a:ext cx="1463040" cy="384048"/>
          </a:xfrm>
          <a:prstGeom prst="rect">
            <a:avLst/>
          </a:prstGeom>
          <a:solidFill>
            <a:srgbClr val="CADCFC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7280" y="3136392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마스터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60320" y="3136392"/>
            <a:ext cx="3291840" cy="384048"/>
          </a:xfrm>
          <a:prstGeom prst="rect">
            <a:avLst/>
          </a:prstGeom>
          <a:solidFill>
            <a:srgbClr val="CADCFC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0" y="3136392"/>
            <a:ext cx="329184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material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52160" y="3136392"/>
            <a:ext cx="3108960" cy="384048"/>
          </a:xfrm>
          <a:prstGeom prst="rect">
            <a:avLst/>
          </a:prstGeom>
          <a:solidFill>
            <a:srgbClr val="CADCFC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52160" y="3136392"/>
            <a:ext cx="310896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자재마스터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61120" y="3136392"/>
            <a:ext cx="2011680" cy="384048"/>
          </a:xfrm>
          <a:prstGeom prst="rect">
            <a:avLst/>
          </a:prstGeom>
          <a:solidFill>
            <a:srgbClr val="CADCFC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20" y="3136392"/>
            <a:ext cx="201168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MARA+MAKT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97280" y="3520440"/>
            <a:ext cx="14630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7280" y="352044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재고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60320" y="3520440"/>
            <a:ext cx="32918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60320" y="3520440"/>
            <a:ext cx="329184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stock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52160" y="3520440"/>
            <a:ext cx="31089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52160" y="3520440"/>
            <a:ext cx="310896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재고 (안전재고·ROP)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61120" y="3520440"/>
            <a:ext cx="2011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61120" y="3520440"/>
            <a:ext cx="201168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MARD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97280" y="3904488"/>
            <a:ext cx="1463040" cy="384048"/>
          </a:xfrm>
          <a:prstGeom prst="rect">
            <a:avLst/>
          </a:prstGeom>
          <a:solidFill>
            <a:srgbClr val="CADCFC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97280" y="3904488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이력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60320" y="3904488"/>
            <a:ext cx="3291840" cy="384048"/>
          </a:xfrm>
          <a:prstGeom prst="rect">
            <a:avLst/>
          </a:prstGeom>
          <a:solidFill>
            <a:srgbClr val="CADCFC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60320" y="3904488"/>
            <a:ext cx="329184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stock_snapshot_history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52160" y="3904488"/>
            <a:ext cx="3108960" cy="384048"/>
          </a:xfrm>
          <a:prstGeom prst="rect">
            <a:avLst/>
          </a:prstGeom>
          <a:solidFill>
            <a:srgbClr val="CADCFC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852160" y="3904488"/>
            <a:ext cx="310896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재고스냅샷이력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61120" y="3904488"/>
            <a:ext cx="2011680" cy="384048"/>
          </a:xfrm>
          <a:prstGeom prst="rect">
            <a:avLst/>
          </a:prstGeom>
          <a:solidFill>
            <a:srgbClr val="CADCFC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61120" y="3904488"/>
            <a:ext cx="201168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-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97280" y="4288536"/>
            <a:ext cx="14630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97280" y="4288536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이동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560320" y="4288536"/>
            <a:ext cx="32918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560320" y="4288536"/>
            <a:ext cx="329184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movement_type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852160" y="4288536"/>
            <a:ext cx="31089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852160" y="4288536"/>
            <a:ext cx="310896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이동유형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61120" y="4288536"/>
            <a:ext cx="2011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961120" y="4288536"/>
            <a:ext cx="201168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BWART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97280" y="4672584"/>
            <a:ext cx="1463040" cy="384048"/>
          </a:xfrm>
          <a:prstGeom prst="rect">
            <a:avLst/>
          </a:prstGeom>
          <a:solidFill>
            <a:srgbClr val="CADCFC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97280" y="4672584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이동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560320" y="4672584"/>
            <a:ext cx="3291840" cy="384048"/>
          </a:xfrm>
          <a:prstGeom prst="rect">
            <a:avLst/>
          </a:prstGeom>
          <a:solidFill>
            <a:srgbClr val="CADCFC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560320" y="4672584"/>
            <a:ext cx="329184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material_doc_header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852160" y="4672584"/>
            <a:ext cx="3108960" cy="384048"/>
          </a:xfrm>
          <a:prstGeom prst="rect">
            <a:avLst/>
          </a:prstGeom>
          <a:solidFill>
            <a:srgbClr val="CADCFC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852160" y="4672584"/>
            <a:ext cx="310896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자재문서 헤더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961120" y="4672584"/>
            <a:ext cx="2011680" cy="384048"/>
          </a:xfrm>
          <a:prstGeom prst="rect">
            <a:avLst/>
          </a:prstGeom>
          <a:solidFill>
            <a:srgbClr val="CADCFC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961120" y="4672584"/>
            <a:ext cx="201168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MKPF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97280" y="5056632"/>
            <a:ext cx="14630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97280" y="5056632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이동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560320" y="5056632"/>
            <a:ext cx="32918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560320" y="5056632"/>
            <a:ext cx="329184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material_doc_item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852160" y="5056632"/>
            <a:ext cx="31089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852160" y="5056632"/>
            <a:ext cx="310896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자재문서 항목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961120" y="5056632"/>
            <a:ext cx="2011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961120" y="5056632"/>
            <a:ext cx="201168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MSEG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97280" y="5440680"/>
            <a:ext cx="1463040" cy="384048"/>
          </a:xfrm>
          <a:prstGeom prst="rect">
            <a:avLst/>
          </a:prstGeom>
          <a:solidFill>
            <a:srgbClr val="CADCFC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97280" y="544068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NFC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560320" y="5440680"/>
            <a:ext cx="3291840" cy="384048"/>
          </a:xfrm>
          <a:prstGeom prst="rect">
            <a:avLst/>
          </a:prstGeom>
          <a:solidFill>
            <a:srgbClr val="CADCFC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560320" y="5440680"/>
            <a:ext cx="329184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nfc_tag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852160" y="5440680"/>
            <a:ext cx="3108960" cy="384048"/>
          </a:xfrm>
          <a:prstGeom prst="rect">
            <a:avLst/>
          </a:prstGeom>
          <a:solidFill>
            <a:srgbClr val="CADCFC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852160" y="5440680"/>
            <a:ext cx="310896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NFC 태그매핑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61120" y="5440680"/>
            <a:ext cx="2011680" cy="384048"/>
          </a:xfrm>
          <a:prstGeom prst="rect">
            <a:avLst/>
          </a:prstGeom>
          <a:solidFill>
            <a:srgbClr val="CADCFC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61120" y="5440680"/>
            <a:ext cx="201168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-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97280" y="5824728"/>
            <a:ext cx="14630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97280" y="5824728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외부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560320" y="5824728"/>
            <a:ext cx="32918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560320" y="5824728"/>
            <a:ext cx="329184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ext_weather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852160" y="5824728"/>
            <a:ext cx="31089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852160" y="5824728"/>
            <a:ext cx="310896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외부-날씨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961120" y="5824728"/>
            <a:ext cx="2011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61120" y="5824728"/>
            <a:ext cx="201168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-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97280" y="6208776"/>
            <a:ext cx="1463040" cy="384048"/>
          </a:xfrm>
          <a:prstGeom prst="rect">
            <a:avLst/>
          </a:prstGeom>
          <a:solidFill>
            <a:srgbClr val="CADCFC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97280" y="6208776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외부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560320" y="6208776"/>
            <a:ext cx="3291840" cy="384048"/>
          </a:xfrm>
          <a:prstGeom prst="rect">
            <a:avLst/>
          </a:prstGeom>
          <a:solidFill>
            <a:srgbClr val="CADCFC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560320" y="6208776"/>
            <a:ext cx="329184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ext_holiday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852160" y="6208776"/>
            <a:ext cx="3108960" cy="384048"/>
          </a:xfrm>
          <a:prstGeom prst="rect">
            <a:avLst/>
          </a:prstGeom>
          <a:solidFill>
            <a:srgbClr val="CADCFC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852160" y="6208776"/>
            <a:ext cx="310896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외부-공휴일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961120" y="6208776"/>
            <a:ext cx="2011680" cy="384048"/>
          </a:xfrm>
          <a:prstGeom prst="rect">
            <a:avLst/>
          </a:prstGeom>
          <a:solidFill>
            <a:srgbClr val="CADCFC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961120" y="6208776"/>
            <a:ext cx="2011680" cy="384048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맑은 고딕"/>
              </a:rPr>
              <a:t>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" cy="7315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4000" b="1">
                <a:solidFill>
                  <a:srgbClr val="CADCFC"/>
                </a:solidFill>
                <a:latin typeface="맑은 고딕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11480"/>
            <a:ext cx="10058400" cy="7315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핵심 구조 — 입출고가 재고를 만든다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011680"/>
            <a:ext cx="2468880" cy="11887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176272"/>
            <a:ext cx="2468880" cy="4572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NFC 스캔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70048"/>
            <a:ext cx="2468880" cy="4572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ctr"/>
            <a:r>
              <a:rPr sz="1100" b="0">
                <a:solidFill>
                  <a:srgbClr val="CADCFC"/>
                </a:solidFill>
                <a:latin typeface="맑은 고딕"/>
              </a:rPr>
              <a:t>태그 UID → 자재 해석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17520" y="2423160"/>
            <a:ext cx="320040" cy="36576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2011680"/>
            <a:ext cx="2468880" cy="11887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176272"/>
            <a:ext cx="2468880" cy="4572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자재문서 생성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670048"/>
            <a:ext cx="2468880" cy="4572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ctr"/>
            <a:r>
              <a:rPr sz="1100" b="0">
                <a:solidFill>
                  <a:srgbClr val="CADCFC"/>
                </a:solidFill>
                <a:latin typeface="맑은 고딕"/>
              </a:rPr>
              <a:t>MKPF 헤더 + MSEG 항목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97880" y="2423160"/>
            <a:ext cx="320040" cy="36576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2011680"/>
            <a:ext cx="2468880" cy="11887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2176272"/>
            <a:ext cx="2468880" cy="4572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이동유형 적용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670048"/>
            <a:ext cx="2468880" cy="4572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ctr"/>
            <a:r>
              <a:rPr sz="1100" b="0">
                <a:solidFill>
                  <a:srgbClr val="CADCFC"/>
                </a:solidFill>
                <a:latin typeface="맑은 고딕"/>
              </a:rPr>
              <a:t>+1 입고 / -1 출고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778240" y="2423160"/>
            <a:ext cx="320040" cy="36576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0" y="2011680"/>
            <a:ext cx="2468880" cy="11887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2176272"/>
            <a:ext cx="2468880" cy="4572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재고 갱신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670048"/>
            <a:ext cx="2468880" cy="4572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ctr"/>
            <a:r>
              <a:rPr sz="1100" b="0">
                <a:solidFill>
                  <a:srgbClr val="CADCFC"/>
                </a:solidFill>
                <a:latin typeface="맑은 고딕"/>
              </a:rPr>
              <a:t>stock.unrestricted_qty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40480"/>
            <a:ext cx="10972800" cy="18288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재고(stock)는 직접 수정되는 값이 아니라 자재문서의 누적 결과다.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예) 전기 히터 50개 출고 → 이동유형 201(-1) × 50 → 해당 저장위치 재고 50 감소.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/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이 구조 덕분에 ① 모든 변동이 문서로 추적되고, ② 출고 이력(201) 집계가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그대로 수요예측 입력이 되며, ③ NFC·수기·배치 등 어떤 입력도 동일 경로로 처리된다.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" cy="7315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4000" b="1">
                <a:solidFill>
                  <a:srgbClr val="CADCFC"/>
                </a:solidFill>
                <a:latin typeface="맑은 고딕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11480"/>
            <a:ext cx="10058400" cy="7315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샘플 데이터 설계 — 분석으로 이어지는 다리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6400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회귀분석이 의미를 가지려면 '기온과 상관관계가 있는' 출고 이력이 필요하다.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시드 생성기는 1년치 날씨(계절성)와 자재별 기온계수를 가진 출고 이력을 만든다.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017520"/>
            <a:ext cx="164592" cy="5486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017520"/>
            <a:ext cx="5029200" cy="54864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맑은 고딕"/>
              </a:rPr>
              <a:t>난방용품 (히터·매트·핫팩)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3017520"/>
            <a:ext cx="5120640" cy="54864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맑은 고딕"/>
              </a:rPr>
              <a:t>기온 ↓ → 출고 ↑   (음의 상관)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730752"/>
            <a:ext cx="164592" cy="5486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30752"/>
            <a:ext cx="5029200" cy="54864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맑은 고딕"/>
              </a:rPr>
              <a:t>냉방용품 (선풍기류)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730752"/>
            <a:ext cx="5120640" cy="54864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맑은 고딕"/>
              </a:rPr>
              <a:t>기온 ↑ → 출고 ↑   (양의 상관)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443984"/>
            <a:ext cx="164592" cy="54864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443984"/>
            <a:ext cx="5029200" cy="54864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맑은 고딕"/>
              </a:rPr>
              <a:t>생수·물티슈 (대조군)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443984"/>
            <a:ext cx="5120640" cy="54864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맑은 고딕"/>
              </a:rPr>
              <a:t>계절 영향 적음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157216"/>
            <a:ext cx="164592" cy="5486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5157216"/>
            <a:ext cx="5029200" cy="54864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맑은 고딕"/>
              </a:rPr>
              <a:t>주말·공휴일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157216"/>
            <a:ext cx="5120640" cy="54864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맑은 고딕"/>
              </a:rPr>
              <a:t>수요 +25% 가중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3504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300" b="1">
                <a:solidFill>
                  <a:srgbClr val="028090"/>
                </a:solidFill>
                <a:latin typeface="맑은 고딕"/>
              </a:rPr>
              <a:t>→ 5단계 수요예측에서 "기온 -1℃ → 난방 출고 +x%" 같은 해석 가능한 회귀계수가 도출되도록 설계.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